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3667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4" y="0"/>
            <a:ext cx="4974336" cy="836676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7040880"/>
            <a:ext cx="3858768" cy="66751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7040880"/>
            <a:ext cx="3858768" cy="66751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32104" y="649224"/>
            <a:ext cx="8010144" cy="6108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10"/>
              </a:lnSpc>
              <a:buNone/>
            </a:pPr>
            <a:r>
              <a:rPr lang="en-US" sz="641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Major International Instruments Concerning Intellectual Property Rights</a:t>
            </a:r>
            <a:endParaRPr lang="en-US" sz="6410" dirty="0"/>
          </a:p>
        </p:txBody>
      </p:sp>
      <p:sp>
        <p:nvSpPr>
          <p:cNvPr id="7" name="Text 1"/>
          <p:cNvSpPr/>
          <p:nvPr/>
        </p:nvSpPr>
        <p:spPr>
          <a:xfrm>
            <a:off x="1106424" y="7187184"/>
            <a:ext cx="33284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424242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Roll No. : 04,05,06</a:t>
            </a:r>
            <a:endParaRPr lang="en-US" sz="2320" dirty="0"/>
          </a:p>
        </p:txBody>
      </p:sp>
      <p:sp>
        <p:nvSpPr>
          <p:cNvPr id="8" name="Text 2"/>
          <p:cNvSpPr/>
          <p:nvPr/>
        </p:nvSpPr>
        <p:spPr>
          <a:xfrm>
            <a:off x="5230368" y="7187184"/>
            <a:ext cx="33284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424242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Date: 16/04/2025</a:t>
            </a:r>
            <a:endParaRPr lang="en-US" sz="23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8992" y="4892040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5. WIPO Convention, 1967</a:t>
            </a:r>
            <a:endParaRPr lang="en-US" sz="2320" dirty="0"/>
          </a:p>
        </p:txBody>
      </p:sp>
      <p:sp>
        <p:nvSpPr>
          <p:cNvPr id="4" name="Text 1"/>
          <p:cNvSpPr/>
          <p:nvPr/>
        </p:nvSpPr>
        <p:spPr>
          <a:xfrm>
            <a:off x="7571232" y="3895344"/>
            <a:ext cx="59893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4. Universal Copyright Convention, 1952</a:t>
            </a:r>
            <a:endParaRPr lang="en-US" sz="2320" dirty="0"/>
          </a:p>
        </p:txBody>
      </p:sp>
      <p:sp>
        <p:nvSpPr>
          <p:cNvPr id="5" name="Text 2"/>
          <p:cNvSpPr/>
          <p:nvPr/>
        </p:nvSpPr>
        <p:spPr>
          <a:xfrm>
            <a:off x="1078992" y="3255264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1. Introduction to IPR</a:t>
            </a:r>
            <a:endParaRPr lang="en-US" sz="2320" dirty="0"/>
          </a:p>
        </p:txBody>
      </p:sp>
      <p:sp>
        <p:nvSpPr>
          <p:cNvPr id="6" name="Text 3"/>
          <p:cNvSpPr/>
          <p:nvPr/>
        </p:nvSpPr>
        <p:spPr>
          <a:xfrm>
            <a:off x="1078992" y="5897880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7. TRIPS Agreement, 1994</a:t>
            </a:r>
            <a:endParaRPr lang="en-US" sz="2320" dirty="0"/>
          </a:p>
        </p:txBody>
      </p:sp>
      <p:sp>
        <p:nvSpPr>
          <p:cNvPr id="7" name="Text 4"/>
          <p:cNvSpPr/>
          <p:nvPr/>
        </p:nvSpPr>
        <p:spPr>
          <a:xfrm>
            <a:off x="1078992" y="3895344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3. Berne Convention, 1886</a:t>
            </a:r>
            <a:endParaRPr lang="en-US" sz="2320" dirty="0"/>
          </a:p>
        </p:txBody>
      </p:sp>
      <p:sp>
        <p:nvSpPr>
          <p:cNvPr id="8" name="Text 5"/>
          <p:cNvSpPr/>
          <p:nvPr/>
        </p:nvSpPr>
        <p:spPr>
          <a:xfrm>
            <a:off x="7571232" y="4892040"/>
            <a:ext cx="59893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6. Patent Cooperation Treaty (PCT), 1970</a:t>
            </a:r>
            <a:endParaRPr lang="en-US" sz="2320" dirty="0"/>
          </a:p>
        </p:txBody>
      </p:sp>
      <p:sp>
        <p:nvSpPr>
          <p:cNvPr id="9" name="Text 6"/>
          <p:cNvSpPr/>
          <p:nvPr/>
        </p:nvSpPr>
        <p:spPr>
          <a:xfrm>
            <a:off x="7571232" y="3255264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2. Paris Convention, 1883</a:t>
            </a:r>
            <a:endParaRPr lang="en-US" sz="2320" dirty="0"/>
          </a:p>
        </p:txBody>
      </p:sp>
      <p:sp>
        <p:nvSpPr>
          <p:cNvPr id="10" name="Text 7"/>
          <p:cNvSpPr/>
          <p:nvPr/>
        </p:nvSpPr>
        <p:spPr>
          <a:xfrm>
            <a:off x="832104" y="1837944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10"/>
              </a:lnSpc>
              <a:buNone/>
            </a:pPr>
            <a:r>
              <a:rPr lang="en-US" sz="641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CONTENTS</a:t>
            </a:r>
            <a:endParaRPr lang="en-US" sz="6410" dirty="0"/>
          </a:p>
        </p:txBody>
      </p:sp>
      <p:sp>
        <p:nvSpPr>
          <p:cNvPr id="11" name="Text 8"/>
          <p:cNvSpPr/>
          <p:nvPr/>
        </p:nvSpPr>
        <p:spPr>
          <a:xfrm>
            <a:off x="7571232" y="5897880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8. Conclusion</a:t>
            </a:r>
            <a:endParaRPr lang="en-US" sz="2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6995160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3246120"/>
            <a:ext cx="129844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8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 </a:t>
            </a:r>
            <a:endParaRPr lang="en-US" sz="1480" dirty="0"/>
          </a:p>
        </p:txBody>
      </p:sp>
      <p:sp>
        <p:nvSpPr>
          <p:cNvPr id="6" name="Text 1"/>
          <p:cNvSpPr/>
          <p:nvPr/>
        </p:nvSpPr>
        <p:spPr>
          <a:xfrm>
            <a:off x="832104" y="950976"/>
            <a:ext cx="12984480" cy="1481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10"/>
              </a:lnSpc>
              <a:buNone/>
            </a:pPr>
            <a:r>
              <a:rPr lang="en-US" sz="929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01</a:t>
            </a:r>
            <a:endParaRPr lang="en-US" sz="9290" dirty="0"/>
          </a:p>
        </p:txBody>
      </p:sp>
      <p:sp>
        <p:nvSpPr>
          <p:cNvPr id="7" name="Text 2"/>
          <p:cNvSpPr/>
          <p:nvPr/>
        </p:nvSpPr>
        <p:spPr>
          <a:xfrm>
            <a:off x="832104" y="3749040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832104" y="5431536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32104" y="2688336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32104" y="4873752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2104" y="5998464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64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Introduction to IPR</a:t>
            </a:r>
            <a:endParaRPr lang="en-US" sz="4640" dirty="0"/>
          </a:p>
        </p:txBody>
      </p:sp>
      <p:sp>
        <p:nvSpPr>
          <p:cNvPr id="12" name="Text 7"/>
          <p:cNvSpPr/>
          <p:nvPr/>
        </p:nvSpPr>
        <p:spPr>
          <a:xfrm>
            <a:off x="832104" y="4315968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28072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78992" y="4599432"/>
            <a:ext cx="1248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Intellectual Property Rights protect creations of the mind like inventions, literary works, designs, symbols, names, and images.</a:t>
            </a:r>
            <a:endParaRPr lang="en-US" sz="1850" dirty="0"/>
          </a:p>
        </p:txBody>
      </p:sp>
      <p:sp>
        <p:nvSpPr>
          <p:cNvPr id="5" name="Text 1"/>
          <p:cNvSpPr/>
          <p:nvPr/>
        </p:nvSpPr>
        <p:spPr>
          <a:xfrm>
            <a:off x="832104" y="3456432"/>
            <a:ext cx="12984480" cy="749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70"/>
              </a:lnSpc>
              <a:buNone/>
            </a:pPr>
            <a:r>
              <a:rPr lang="en-US" sz="469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What is IPR?</a:t>
            </a:r>
            <a:endParaRPr lang="en-US" sz="4690" dirty="0"/>
          </a:p>
        </p:txBody>
      </p:sp>
    </p:spTree>
  </p:cSld>
  <p:clrMapOvr>
    <a:masterClrMapping/>
  </p:clrMapOvr>
</p:sld>
</file>

<file path=ppt/slides/slide5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5"><p:spTree><p:nvGrpSpPr><p:cNvPr id="1" name=""/><p:cNvGrpSpPr/><p:nvPr/></p:nvGrpSpPr><p:grpSpPr><a:xfrm><a:off x="0" y="0"/><a:ext cx="0" cy="0"/><a:chOff x="0" y="0"/><a:chExt cx="0" cy="0"/></a:xfrm></p:grpSpPr><p:pic>  <p:nvPicPr><p:cNvPr id="2" name="Image 0" descr="preencoded.png">    </p:cNvPr>    <p:cNvPicPr><a:picLocks noChangeAspect="1"/></p:cNvPicPr>    <p:nvPr></p:nvPr>  </p:nvPicPr><p:blipFill><a:blip r:embed="rId1"></a:blip>  <a:stretch><a:fillRect/></a:stretch></p:blipFill><p:spPr> <a:xfrm>  <a:off x="0" y="0"/>  <a:ext cx="14630400" cy="8238744"/> </a:xfrm> <a:prstGeom prst="rect"><a:avLst/></a:prstGeom></p:spPr></p:pic><p:pic>  <p:nvPicPr><p:cNvPr id="3" name="Image 1" descr="preencoded.png">    </p:cNvPr>    <p:cNvPicPr><a:picLocks noChangeAspect="1"/></p:cNvPicPr>    <p:nvPr></p:nvPr>  </p:nvPicPr><p:blipFill><a:blip r:embed="rId2"></a:blip>  <a:stretch><a:fillRect/></a:stretch></p:blipFill><p:spPr> <a:xfrm>  <a:off x="9656064" y="0"/>  <a:ext cx="4974336" cy="8238744"/> </a:xfrm> <a:prstGeom prst="rect"><a:avLst/></a:prstGeom></p:spPr></p:pic><p:sp><p:nvSpPr><p:cNvPr id="4" name="Text 0"></p:cNvPr><p:cNvSpPr/><p:nvPr></p:nvPr></p:nvSpPr><p:spPr><a:xfrm><a:off x="1078992" y="2926080"/><a:ext cx="7507224" cy="4133088"/></a:xfrm><a:prstGeom prst="rect"><a:avLst></a:avLst></a:prstGeom><a:noFill/><a:ln></a:ln></p:spPr><p:txBody><a:bodyPr wrap="square" lIns="0" tIns="0" rIns="0" bIns="0" rtlCol="0" anchor="t"></a:bodyPr><a:lstStyle/><a:p><a:pPr algn="l" indent="0" marL="0"><a:lnSpc><a:spcPts val="2320"/></a:lnSpc><a:buNone/></a:pPr><a:r><a:rPr lang="en-US" sz="1850" dirty="0"><a:solidFill><a:srgbClr val="424242"/></a:solidFill><a:latin typeface="MiSans-MiSans-Regular" pitchFamily="34" charset="0"/><a:ea typeface="MiSans-MiSans-Regular" pitchFamily="34" charset="-122"/><a:cs typeface="MiSans-MiSans-Regular" pitchFamily="34" charset="-120"/></a:rPr><a:t>🧑‍🎓 Boosts Cultural ExchangeHelps protect and distribute artistic and literary works across nations.</a:t></a:r><a:endParaRPr lang="en-US" sz="1850" dirty="0"/></a:p><a:p><a:pPr algn="l" indent="0" marL="0"><a:lnSpc><a:spcPts val="2320"/></a:lnSpc><a:buNone/></a:pPr><a:pPr algn="l" indent="0" marL="0"><a:lnSpc><a:spcPts val="2320"/></a:lnSpc><a:buNone/></a:pPr><a:endParaRPr lang="en-US" sz="1850" dirty="0"/></a:p><a:p><a:pPr algn="l" indent="0" marL="0"><a:lnSpc><a:spcPts val="2320"/></a:lnSpc><a:buNone/></a:pPr><a:r><a:rPr lang="en-US" sz="1850" dirty="0"><a:solidFill><a:srgbClr val="424242"/></a:solidFill><a:latin typeface="MiSans-MiSans-Regular" pitchFamily="34" charset="0"/><a:ea typeface="MiSans-MiSans-Regular" pitchFamily="34" charset="-122"/><a:cs typeface="MiSans-MiSans-Regular" pitchFamily="34" charset="-120"/></a:rPr><a:t>📈 Supports Economic GrowthProtecting IP leads to investment, job creation, and technological advancement.</a:t></a:r><a:endParaRPr lang="en-US" sz="1850" dirty="0"/></a:p><a:p><a:pPr algn="l" indent="0" marL="0"><a:lnSpc><a:spcPts val="2320"/></a:lnSpc><a:buNone/></a:pPr><a:pPr algn="l" indent="0" marL="0"><a:lnSpc><a:spcPts val="2320"/></a:lnSpc><a:buNone/></a:pPr><a:endParaRPr lang="en-US" sz="1850" dirty="0"/></a:p><a:p><a:pPr algn="l" indent="0" marL="0"><a:lnSpc><a:spcPts val="2320"/></a:lnSpc><a:buNone/></a:pPr><a:r><a:rPr lang="en-US" sz="1850" dirty="0"><a:solidFill><a:srgbClr val="424242"/></a:solidFill><a:latin typeface="MiSans-MiSans-Regular" pitchFamily="34" charset="0"/><a:ea typeface="MiSans-MiSans-Regular" pitchFamily="34" charset="-122"/><a:cs typeface="MiSans-MiSans-Regular" pitchFamily="34" charset="-120"/></a:rPr><a:t>🤝 Facilitates International TradeA harmonized IPR system builds trust among trading partners and boosts cross-border economic collaboration.</a:t></a:r><a:endParaRPr lang="en-US" sz="1850" dirty="0"/></a:p><a:p><a:pPr algn="l" indent="0" marL="0"><a:lnSpc><a:spcPts val="2320"/></a:lnSpc><a:buNone/></a:pPr><a:pPr algn="l" indent="0" marL="0"><a:lnSpc><a:spcPts val="2320"/></a:lnSpc><a:buNone/></a:pPr><a:endParaRPr lang="en-US" sz="1850" dirty="0"/></a:p><a:p><a:pPr algn="l" indent="0" marL="0"><a:lnSpc><a:spcPts val="2320"/></a:lnSpc><a:buNone/></a:pPr><a:r><a:rPr lang="en-US" sz="1850" dirty="0"><a:solidFill><a:srgbClr val="424242"/></a:solidFill><a:latin typeface="MiSans-MiSans-Regular" pitchFamily="34" charset="0"/><a:ea typeface="MiSans-MiSans-Regular" pitchFamily="34" charset="-122"/><a:cs typeface="MiSans-MiSans-Regular" pitchFamily="34" charset="-120"/></a:rPr><a:t>💡 Encourages InnovationAssures innovators that their rights will be respected globally, motivating research and creativity.</a:t></a:r><a:endParaRPr lang="en-US" sz="1850" dirty="0"/></a:p><a:p><a:pPr algn="l" indent="0" marL="0"><a:lnSpc><a:spcPts val="2320"/></a:lnSpc><a:buNone/></a:pPr><a:pPr algn="l" indent="0" marL="0"><a:lnSpc><a:spcPts val="2320"/></a:lnSpc><a:buNone/></a:pPr><a:endParaRPr lang="en-US" sz="1850" dirty="0"/></a:p><a:p><a:pPr algn="l" indent="0" marL="0"><a:lnSpc><a:spcPts val="2320"/></a:lnSpc><a:buNone/></a:pPr><a:r><a:rPr lang="en-US" sz="1850" dirty="0"><a:solidFill><a:srgbClr val="424242"/></a:solidFill><a:latin typeface="MiSans-MiSans-Regular" pitchFamily="34" charset="0"/><a:ea typeface="MiSans-MiSans-Regular" pitchFamily="34" charset="-122"/><a:cs typeface="MiSans-MiSans-Regular" pitchFamily="34" charset="-120"/></a:rPr><a:t>⚖️ Legal Enforcement Across BordersProvides a legal framework to take action against unauthorized use in member countries.</a:t></a:r><a:endParaRPr lang="en-US" sz="1850" dirty="0"/></a:p><a:p><a:pPr algn="l" indent="0" marL="0"><a:lnSpc><a:spcPts val="2320"/></a:lnSpc><a:buNone/></a:pPr><a:pPr algn="l" indent="0" marL="0"><a:lnSpc><a:spcPts val="2320"/></a:lnSpc><a:buNone/></a:pPr><a:endParaRPr lang="en-US" sz="1850" dirty="0"/></a:p><a:p><a:pPr algn="l" indent="0" marL="0"><a:lnSpc><a:spcPts val="2320"/></a:lnSpc><a:buNone/></a:pPr><a:r><a:rPr lang="en-US" sz="1850" dirty="0"><a:solidFill><a:srgbClr val="424242"/></a:solidFill><a:latin typeface="MiSans-MiSans-Regular" pitchFamily="34" charset="0"/><a:ea typeface="MiSans-MiSans-Regular" pitchFamily="34" charset="-122"/><a:cs typeface="MiSans-MiSans-Regular" pitchFamily="34" charset="-120"/></a:rPr><a:t>🌍 Global Market ReachCreators and inventors can confidently market their products or works internationally without fear of infringement.</a:t></a:r><a:endParaRPr lang="en-US" sz="1850" dirty="0"/></a:p><a:p><a:pPr algn="l" indent="0" marL="0"><a:lnSpc><a:spcPts val="2320"/></a:lnSpc><a:buNone/></a:pPr><a:endParaRPr lang="en-US" sz="1850" dirty="0"/></a:p></p:txBody></p:sp><p:sp><p:nvSpPr><p:cNvPr id="5" name="Text 1"></p:cNvPr><p:cNvSpPr/><p:nvPr></p:nvPr></p:nvSpPr><p:spPr><a:xfrm><a:off x="832104" y="1051560"/><a:ext cx="8010144" cy="1481328"/></a:xfrm><a:prstGeom prst="rect"><a:avLst></a:avLst></a:prstGeom><a:noFill/><a:ln></a:ln></p:spPr><p:txBody><a:bodyPr wrap="square" lIns="0" tIns="0" rIns="0" bIns="0" rtlCol="0" anchor="t"></a:bodyPr><a:lstStyle/><a:p><a:pPr algn="l" indent="0" marL="0"><a:lnSpc><a:spcPts val="5800"/></a:lnSpc><a:buNone/></a:pPr><a:r><a:rPr lang="en-US" sz="4640" dirty="0"><a:solidFill><a:srgbClr val="3F4460"/></a:solidFill><a:latin typeface="思源宋体-思源宋体-Heavy" pitchFamily="34" charset="0"/><a:ea typeface="思源宋体-思源宋体-Heavy" pitchFamily="34" charset="-122"/><a:cs typeface="思源宋体-思源宋体-Heavy" pitchFamily="34" charset="-120"/></a:rPr><a:t>Importance of International Protection</a:t></a:r><a:endParaRPr lang="en-US" sz="4640" dirty="0"/></a:p></p:txBody></p:sp></p:spTree></p:cSld><p:clrMapOvr><a:masterClrMapping/></p:clrMapOvr>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6995160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180576" y="1207008"/>
            <a:ext cx="46177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480" dirty="0"/>
          </a:p>
        </p:txBody>
      </p:sp>
      <p:sp>
        <p:nvSpPr>
          <p:cNvPr id="6" name="Text 1"/>
          <p:cNvSpPr/>
          <p:nvPr/>
        </p:nvSpPr>
        <p:spPr>
          <a:xfrm>
            <a:off x="841248" y="1207008"/>
            <a:ext cx="7397496" cy="1499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40"/>
              </a:lnSpc>
              <a:buNone/>
            </a:pPr>
            <a:r>
              <a:rPr lang="en-US" sz="939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02</a:t>
            </a:r>
            <a:endParaRPr lang="en-US" sz="9390" dirty="0"/>
          </a:p>
        </p:txBody>
      </p:sp>
      <p:sp>
        <p:nvSpPr>
          <p:cNvPr id="7" name="Text 2"/>
          <p:cNvSpPr/>
          <p:nvPr/>
        </p:nvSpPr>
        <p:spPr>
          <a:xfrm>
            <a:off x="832104" y="4864608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832104" y="3739896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32104" y="5422392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41248" y="2926080"/>
            <a:ext cx="739749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2104" y="5980176"/>
            <a:ext cx="12984480" cy="749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70"/>
              </a:lnSpc>
              <a:buNone/>
            </a:pPr>
            <a:r>
              <a:rPr lang="en-US" sz="469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Paris Convention, 1883</a:t>
            </a:r>
            <a:endParaRPr lang="en-US" sz="4690" dirty="0"/>
          </a:p>
        </p:txBody>
      </p:sp>
      <p:sp>
        <p:nvSpPr>
          <p:cNvPr id="12" name="Text 7"/>
          <p:cNvSpPr/>
          <p:nvPr/>
        </p:nvSpPr>
        <p:spPr>
          <a:xfrm>
            <a:off x="832104" y="4297680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739896"/>
            <a:ext cx="2487168" cy="177393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3739896"/>
            <a:ext cx="2487168" cy="177393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3739896"/>
            <a:ext cx="2487168" cy="1773936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32104" y="2715768"/>
            <a:ext cx="8010144" cy="749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70"/>
              </a:lnSpc>
              <a:buNone/>
            </a:pPr>
            <a:r>
              <a:rPr lang="en-US" sz="469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Overview</a:t>
            </a:r>
            <a:endParaRPr lang="en-US" sz="4690" dirty="0"/>
          </a:p>
        </p:txBody>
      </p:sp>
      <p:sp>
        <p:nvSpPr>
          <p:cNvPr id="8" name="Text 1"/>
          <p:cNvSpPr/>
          <p:nvPr/>
        </p:nvSpPr>
        <p:spPr>
          <a:xfrm>
            <a:off x="3858768" y="3886200"/>
            <a:ext cx="19568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Focus on patents, trademarks, and industrial designs.</a:t>
            </a:r>
            <a:endParaRPr lang="en-US" sz="1850" dirty="0"/>
          </a:p>
        </p:txBody>
      </p:sp>
      <p:sp>
        <p:nvSpPr>
          <p:cNvPr id="9" name="Text 2"/>
          <p:cNvSpPr/>
          <p:nvPr/>
        </p:nvSpPr>
        <p:spPr>
          <a:xfrm>
            <a:off x="6601968" y="3886200"/>
            <a:ext cx="19568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Ensures national treatment and right of priority.</a:t>
            </a:r>
            <a:endParaRPr lang="en-US" sz="1850" dirty="0"/>
          </a:p>
        </p:txBody>
      </p:sp>
      <p:sp>
        <p:nvSpPr>
          <p:cNvPr id="10" name="Text 3"/>
          <p:cNvSpPr/>
          <p:nvPr/>
        </p:nvSpPr>
        <p:spPr>
          <a:xfrm>
            <a:off x="1106424" y="3886200"/>
            <a:ext cx="19568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First major international treaty on industrial property.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6995160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5422392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6" name="Text 1"/>
          <p:cNvSpPr/>
          <p:nvPr/>
        </p:nvSpPr>
        <p:spPr>
          <a:xfrm>
            <a:off x="841248" y="1207008"/>
            <a:ext cx="7397496" cy="1499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40"/>
              </a:lnSpc>
              <a:buNone/>
            </a:pPr>
            <a:r>
              <a:rPr lang="en-US" sz="939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03</a:t>
            </a:r>
            <a:endParaRPr lang="en-US" sz="9390" dirty="0"/>
          </a:p>
        </p:txBody>
      </p:sp>
      <p:sp>
        <p:nvSpPr>
          <p:cNvPr id="7" name="Text 2"/>
          <p:cNvSpPr/>
          <p:nvPr/>
        </p:nvSpPr>
        <p:spPr>
          <a:xfrm>
            <a:off x="832104" y="5980176"/>
            <a:ext cx="12984480" cy="749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70"/>
              </a:lnSpc>
              <a:buNone/>
            </a:pPr>
            <a:r>
              <a:rPr lang="en-US" sz="469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Berne Convention, 1886</a:t>
            </a:r>
            <a:endParaRPr lang="en-US" sz="4690" dirty="0"/>
          </a:p>
        </p:txBody>
      </p:sp>
      <p:sp>
        <p:nvSpPr>
          <p:cNvPr id="8" name="Text 3"/>
          <p:cNvSpPr/>
          <p:nvPr/>
        </p:nvSpPr>
        <p:spPr>
          <a:xfrm>
            <a:off x="832104" y="4864608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9180576" y="1207008"/>
            <a:ext cx="46177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480" dirty="0"/>
          </a:p>
        </p:txBody>
      </p:sp>
      <p:sp>
        <p:nvSpPr>
          <p:cNvPr id="10" name="Text 5"/>
          <p:cNvSpPr/>
          <p:nvPr/>
        </p:nvSpPr>
        <p:spPr>
          <a:xfrm>
            <a:off x="832104" y="3739896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41248" y="2926080"/>
            <a:ext cx="739749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32104" y="4297680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2359152"/>
            <a:ext cx="4544568" cy="454456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2359152"/>
            <a:ext cx="4544568" cy="454456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359152"/>
            <a:ext cx="4544568" cy="454456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772400" y="5934456"/>
            <a:ext cx="18288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454545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3</a:t>
            </a:r>
            <a:endParaRPr lang="en-US" sz="2320" dirty="0"/>
          </a:p>
        </p:txBody>
      </p:sp>
      <p:sp>
        <p:nvSpPr>
          <p:cNvPr id="7" name="Text 1"/>
          <p:cNvSpPr/>
          <p:nvPr/>
        </p:nvSpPr>
        <p:spPr>
          <a:xfrm>
            <a:off x="5687568" y="4169664"/>
            <a:ext cx="1280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454545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1</a:t>
            </a:r>
            <a:endParaRPr lang="en-US" sz="2320" dirty="0"/>
          </a:p>
        </p:txBody>
      </p:sp>
      <p:sp>
        <p:nvSpPr>
          <p:cNvPr id="8" name="Text 2"/>
          <p:cNvSpPr/>
          <p:nvPr/>
        </p:nvSpPr>
        <p:spPr>
          <a:xfrm>
            <a:off x="8257032" y="3218688"/>
            <a:ext cx="1737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454545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2</a:t>
            </a:r>
            <a:endParaRPr lang="en-US" sz="2320" dirty="0"/>
          </a:p>
        </p:txBody>
      </p:sp>
      <p:sp>
        <p:nvSpPr>
          <p:cNvPr id="9" name="Text 3"/>
          <p:cNvSpPr/>
          <p:nvPr/>
        </p:nvSpPr>
        <p:spPr>
          <a:xfrm>
            <a:off x="9710928" y="5687568"/>
            <a:ext cx="3986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Automatic protection in all member countries.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832104" y="1344168"/>
            <a:ext cx="12984480" cy="749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60"/>
              </a:lnSpc>
              <a:buNone/>
            </a:pPr>
            <a:r>
              <a:rPr lang="en-US" sz="469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Overview</a:t>
            </a:r>
            <a:endParaRPr lang="en-US" sz="4690" dirty="0"/>
          </a:p>
        </p:txBody>
      </p:sp>
      <p:sp>
        <p:nvSpPr>
          <p:cNvPr id="11" name="Text 5"/>
          <p:cNvSpPr/>
          <p:nvPr/>
        </p:nvSpPr>
        <p:spPr>
          <a:xfrm>
            <a:off x="9710928" y="3236976"/>
            <a:ext cx="3986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Provides authors rights like reproduction and translation.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50976" y="4462272"/>
            <a:ext cx="3511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Protects literary and artistic works.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6995160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4297680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6" name="Text 1"/>
          <p:cNvSpPr/>
          <p:nvPr/>
        </p:nvSpPr>
        <p:spPr>
          <a:xfrm>
            <a:off x="9180576" y="1207008"/>
            <a:ext cx="46177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480" dirty="0"/>
          </a:p>
        </p:txBody>
      </p:sp>
      <p:sp>
        <p:nvSpPr>
          <p:cNvPr id="7" name="Text 2"/>
          <p:cNvSpPr/>
          <p:nvPr/>
        </p:nvSpPr>
        <p:spPr>
          <a:xfrm>
            <a:off x="832104" y="4864608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832104" y="5422392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32104" y="3739896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41248" y="1207008"/>
            <a:ext cx="7397496" cy="1499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40"/>
              </a:lnSpc>
              <a:buNone/>
            </a:pPr>
            <a:r>
              <a:rPr lang="en-US" sz="939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04</a:t>
            </a:r>
            <a:endParaRPr lang="en-US" sz="9390" dirty="0"/>
          </a:p>
        </p:txBody>
      </p:sp>
      <p:sp>
        <p:nvSpPr>
          <p:cNvPr id="11" name="Text 6"/>
          <p:cNvSpPr/>
          <p:nvPr/>
        </p:nvSpPr>
        <p:spPr>
          <a:xfrm>
            <a:off x="832104" y="5980176"/>
            <a:ext cx="12984480" cy="749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70"/>
              </a:lnSpc>
              <a:buNone/>
            </a:pPr>
            <a:r>
              <a:rPr lang="en-US" sz="469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Universal Copyright Convention, 1952</a:t>
            </a:r>
            <a:endParaRPr lang="en-US" sz="4690" dirty="0"/>
          </a:p>
        </p:txBody>
      </p:sp>
      <p:sp>
        <p:nvSpPr>
          <p:cNvPr id="12" name="Text 7"/>
          <p:cNvSpPr/>
          <p:nvPr/>
        </p:nvSpPr>
        <p:spPr>
          <a:xfrm>
            <a:off x="841248" y="2926080"/>
            <a:ext cx="739749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191256"/>
            <a:ext cx="7790688" cy="77906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191256"/>
            <a:ext cx="7790688" cy="779068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191256"/>
            <a:ext cx="7790688" cy="779068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232904" y="3977640"/>
            <a:ext cx="1737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454545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2</a:t>
            </a:r>
            <a:endParaRPr lang="en-US" sz="2320" dirty="0"/>
          </a:p>
        </p:txBody>
      </p:sp>
      <p:sp>
        <p:nvSpPr>
          <p:cNvPr id="7" name="Text 1"/>
          <p:cNvSpPr/>
          <p:nvPr/>
        </p:nvSpPr>
        <p:spPr>
          <a:xfrm>
            <a:off x="4727448" y="5440680"/>
            <a:ext cx="1280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454545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1</a:t>
            </a:r>
            <a:endParaRPr lang="en-US" sz="2320" dirty="0"/>
          </a:p>
        </p:txBody>
      </p:sp>
      <p:sp>
        <p:nvSpPr>
          <p:cNvPr id="8" name="Text 2"/>
          <p:cNvSpPr/>
          <p:nvPr/>
        </p:nvSpPr>
        <p:spPr>
          <a:xfrm>
            <a:off x="9756648" y="5440680"/>
            <a:ext cx="18288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454545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3</a:t>
            </a:r>
            <a:endParaRPr lang="en-US" sz="2320" dirty="0"/>
          </a:p>
        </p:txBody>
      </p:sp>
      <p:sp>
        <p:nvSpPr>
          <p:cNvPr id="9" name="Text 3"/>
          <p:cNvSpPr/>
          <p:nvPr/>
        </p:nvSpPr>
        <p:spPr>
          <a:xfrm>
            <a:off x="5394960" y="2423160"/>
            <a:ext cx="38587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Managed by UNESCO.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950976" y="3300984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Alternative to the Berne Convention.</a:t>
            </a:r>
            <a:endParaRPr lang="en-US" sz="1850" dirty="0"/>
          </a:p>
        </p:txBody>
      </p:sp>
      <p:sp>
        <p:nvSpPr>
          <p:cNvPr id="11" name="Text 5"/>
          <p:cNvSpPr/>
          <p:nvPr/>
        </p:nvSpPr>
        <p:spPr>
          <a:xfrm>
            <a:off x="9838944" y="3300984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Meant for countries not part of Berne.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832104" y="1152144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64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Overview</a:t>
            </a:r>
            <a:endParaRPr lang="en-US" sz="46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6995160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4864608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6" name="Text 1"/>
          <p:cNvSpPr/>
          <p:nvPr/>
        </p:nvSpPr>
        <p:spPr>
          <a:xfrm>
            <a:off x="841248" y="2926080"/>
            <a:ext cx="739749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832104" y="5980176"/>
            <a:ext cx="12984480" cy="749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70"/>
              </a:lnSpc>
              <a:buNone/>
            </a:pPr>
            <a:r>
              <a:rPr lang="en-US" sz="469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WIPO Convention, 1967</a:t>
            </a:r>
            <a:endParaRPr lang="en-US" sz="4690" dirty="0"/>
          </a:p>
        </p:txBody>
      </p:sp>
      <p:sp>
        <p:nvSpPr>
          <p:cNvPr id="8" name="Text 3"/>
          <p:cNvSpPr/>
          <p:nvPr/>
        </p:nvSpPr>
        <p:spPr>
          <a:xfrm>
            <a:off x="832104" y="3739896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32104" y="4297680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9180576" y="1207008"/>
            <a:ext cx="46177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480" dirty="0"/>
          </a:p>
        </p:txBody>
      </p:sp>
      <p:sp>
        <p:nvSpPr>
          <p:cNvPr id="11" name="Text 6"/>
          <p:cNvSpPr/>
          <p:nvPr/>
        </p:nvSpPr>
        <p:spPr>
          <a:xfrm>
            <a:off x="841248" y="1207008"/>
            <a:ext cx="7397496" cy="1499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40"/>
              </a:lnSpc>
              <a:buNone/>
            </a:pPr>
            <a:r>
              <a:rPr lang="en-US" sz="939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05</a:t>
            </a:r>
            <a:endParaRPr lang="en-US" sz="9390" dirty="0"/>
          </a:p>
        </p:txBody>
      </p:sp>
      <p:sp>
        <p:nvSpPr>
          <p:cNvPr id="12" name="Text 7"/>
          <p:cNvSpPr/>
          <p:nvPr/>
        </p:nvSpPr>
        <p:spPr>
          <a:xfrm>
            <a:off x="832104" y="5422392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74336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53328" y="3913632"/>
            <a:ext cx="750722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Established the World Intellectual Property Organization.</a:t>
            </a:r>
            <a:endParaRPr lang="en-US" sz="1850" dirty="0"/>
          </a:p>
        </p:txBody>
      </p:sp>
      <p:sp>
        <p:nvSpPr>
          <p:cNvPr id="5" name="Text 1"/>
          <p:cNvSpPr/>
          <p:nvPr/>
        </p:nvSpPr>
        <p:spPr>
          <a:xfrm>
            <a:off x="6053328" y="5038344"/>
            <a:ext cx="750722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Coordinates international treaties and cooperation.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6053328" y="4480560"/>
            <a:ext cx="750722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UN agency to promote IPR protection worldwide.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5806440" y="2770632"/>
            <a:ext cx="8010144" cy="749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70"/>
              </a:lnSpc>
              <a:buNone/>
            </a:pPr>
            <a:r>
              <a:rPr lang="en-US" sz="469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Overview</a:t>
            </a:r>
            <a:endParaRPr lang="en-US" sz="469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6995160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4864608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6" name="Text 1"/>
          <p:cNvSpPr/>
          <p:nvPr/>
        </p:nvSpPr>
        <p:spPr>
          <a:xfrm>
            <a:off x="841248" y="2926080"/>
            <a:ext cx="739749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841248" y="1207008"/>
            <a:ext cx="7397496" cy="1499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40"/>
              </a:lnSpc>
              <a:buNone/>
            </a:pPr>
            <a:r>
              <a:rPr lang="en-US" sz="939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06</a:t>
            </a:r>
            <a:endParaRPr lang="en-US" sz="9390" dirty="0"/>
          </a:p>
        </p:txBody>
      </p:sp>
      <p:sp>
        <p:nvSpPr>
          <p:cNvPr id="8" name="Text 3"/>
          <p:cNvSpPr/>
          <p:nvPr/>
        </p:nvSpPr>
        <p:spPr>
          <a:xfrm>
            <a:off x="9180576" y="1207008"/>
            <a:ext cx="46177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480" dirty="0"/>
          </a:p>
        </p:txBody>
      </p:sp>
      <p:sp>
        <p:nvSpPr>
          <p:cNvPr id="9" name="Text 4"/>
          <p:cNvSpPr/>
          <p:nvPr/>
        </p:nvSpPr>
        <p:spPr>
          <a:xfrm>
            <a:off x="832104" y="4297680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32104" y="5980176"/>
            <a:ext cx="12984480" cy="749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70"/>
              </a:lnSpc>
              <a:buNone/>
            </a:pPr>
            <a:r>
              <a:rPr lang="en-US" sz="469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Patent Cooperation Treaty (PCT), 1970</a:t>
            </a:r>
            <a:endParaRPr lang="en-US" sz="4690" dirty="0"/>
          </a:p>
        </p:txBody>
      </p:sp>
      <p:sp>
        <p:nvSpPr>
          <p:cNvPr id="11" name="Text 6"/>
          <p:cNvSpPr/>
          <p:nvPr/>
        </p:nvSpPr>
        <p:spPr>
          <a:xfrm>
            <a:off x="832104" y="5422392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32104" y="3739896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2350008"/>
            <a:ext cx="4544568" cy="454456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2350008"/>
            <a:ext cx="4544568" cy="454456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350008"/>
            <a:ext cx="4544568" cy="454456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818120" y="3429000"/>
            <a:ext cx="1737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454545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2</a:t>
            </a:r>
            <a:endParaRPr lang="en-US" sz="2320" dirty="0"/>
          </a:p>
        </p:txBody>
      </p:sp>
      <p:sp>
        <p:nvSpPr>
          <p:cNvPr id="7" name="Text 1"/>
          <p:cNvSpPr/>
          <p:nvPr/>
        </p:nvSpPr>
        <p:spPr>
          <a:xfrm>
            <a:off x="6089904" y="4434840"/>
            <a:ext cx="1280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454545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1</a:t>
            </a:r>
            <a:endParaRPr lang="en-US" sz="2320" dirty="0"/>
          </a:p>
        </p:txBody>
      </p:sp>
      <p:sp>
        <p:nvSpPr>
          <p:cNvPr id="8" name="Text 2"/>
          <p:cNvSpPr/>
          <p:nvPr/>
        </p:nvSpPr>
        <p:spPr>
          <a:xfrm>
            <a:off x="7818120" y="5449824"/>
            <a:ext cx="18288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454545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3</a:t>
            </a:r>
            <a:endParaRPr lang="en-US" sz="2320" dirty="0"/>
          </a:p>
        </p:txBody>
      </p:sp>
      <p:sp>
        <p:nvSpPr>
          <p:cNvPr id="9" name="Text 3"/>
          <p:cNvSpPr/>
          <p:nvPr/>
        </p:nvSpPr>
        <p:spPr>
          <a:xfrm>
            <a:off x="9710928" y="5907024"/>
            <a:ext cx="398678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Administered by WIPO.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832104" y="134416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64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Overview</a:t>
            </a:r>
            <a:endParaRPr lang="en-US" sz="4640" dirty="0"/>
          </a:p>
        </p:txBody>
      </p:sp>
      <p:sp>
        <p:nvSpPr>
          <p:cNvPr id="11" name="Text 5"/>
          <p:cNvSpPr/>
          <p:nvPr/>
        </p:nvSpPr>
        <p:spPr>
          <a:xfrm>
            <a:off x="9710928" y="3310128"/>
            <a:ext cx="3986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A single international patent application.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50976" y="4462272"/>
            <a:ext cx="3511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Simplifies patent application process in multiple countries.</a:t>
            </a:r>
            <a:endParaRPr lang="en-US" sz="1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6995160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180576" y="1207008"/>
            <a:ext cx="46177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480" dirty="0"/>
          </a:p>
        </p:txBody>
      </p:sp>
      <p:sp>
        <p:nvSpPr>
          <p:cNvPr id="6" name="Text 1"/>
          <p:cNvSpPr/>
          <p:nvPr/>
        </p:nvSpPr>
        <p:spPr>
          <a:xfrm>
            <a:off x="832104" y="4864608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832104" y="3739896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832104" y="4297680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41248" y="1207008"/>
            <a:ext cx="7397496" cy="1499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40"/>
              </a:lnSpc>
              <a:buNone/>
            </a:pPr>
            <a:r>
              <a:rPr lang="en-US" sz="939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07</a:t>
            </a:r>
            <a:endParaRPr lang="en-US" sz="9390" dirty="0"/>
          </a:p>
        </p:txBody>
      </p:sp>
      <p:sp>
        <p:nvSpPr>
          <p:cNvPr id="10" name="Text 5"/>
          <p:cNvSpPr/>
          <p:nvPr/>
        </p:nvSpPr>
        <p:spPr>
          <a:xfrm>
            <a:off x="832104" y="5980176"/>
            <a:ext cx="12984480" cy="749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70"/>
              </a:lnSpc>
              <a:buNone/>
            </a:pPr>
            <a:r>
              <a:rPr lang="en-US" sz="469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TRIPS Agreement, 1994</a:t>
            </a:r>
            <a:endParaRPr lang="en-US" sz="4690" dirty="0"/>
          </a:p>
        </p:txBody>
      </p:sp>
      <p:sp>
        <p:nvSpPr>
          <p:cNvPr id="11" name="Text 6"/>
          <p:cNvSpPr/>
          <p:nvPr/>
        </p:nvSpPr>
        <p:spPr>
          <a:xfrm>
            <a:off x="841248" y="2926080"/>
            <a:ext cx="739749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32104" y="5422392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2350008"/>
            <a:ext cx="4544568" cy="454456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2350008"/>
            <a:ext cx="4544568" cy="454456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350008"/>
            <a:ext cx="4544568" cy="454456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669280" y="4434840"/>
            <a:ext cx="1280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454545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1</a:t>
            </a:r>
            <a:endParaRPr lang="en-US" sz="2320" dirty="0"/>
          </a:p>
        </p:txBody>
      </p:sp>
      <p:sp>
        <p:nvSpPr>
          <p:cNvPr id="7" name="Text 1"/>
          <p:cNvSpPr/>
          <p:nvPr/>
        </p:nvSpPr>
        <p:spPr>
          <a:xfrm>
            <a:off x="8028432" y="5815584"/>
            <a:ext cx="18288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454545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3</a:t>
            </a:r>
            <a:endParaRPr lang="en-US" sz="2320" dirty="0"/>
          </a:p>
        </p:txBody>
      </p:sp>
      <p:sp>
        <p:nvSpPr>
          <p:cNvPr id="8" name="Text 2"/>
          <p:cNvSpPr/>
          <p:nvPr/>
        </p:nvSpPr>
        <p:spPr>
          <a:xfrm>
            <a:off x="8028432" y="3063240"/>
            <a:ext cx="1737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20" dirty="0">
                <a:solidFill>
                  <a:srgbClr val="454545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2</a:t>
            </a:r>
            <a:endParaRPr lang="en-US" sz="2320" dirty="0"/>
          </a:p>
        </p:txBody>
      </p:sp>
      <p:sp>
        <p:nvSpPr>
          <p:cNvPr id="9" name="Text 3"/>
          <p:cNvSpPr/>
          <p:nvPr/>
        </p:nvSpPr>
        <p:spPr>
          <a:xfrm>
            <a:off x="9710928" y="5614416"/>
            <a:ext cx="3986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Sets minimum standards for IP protection and enforcement.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950976" y="4462272"/>
            <a:ext cx="3511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Trade-Related Aspects of Intellectual Property Rights.</a:t>
            </a:r>
            <a:endParaRPr lang="en-US" sz="1850" dirty="0"/>
          </a:p>
        </p:txBody>
      </p:sp>
      <p:sp>
        <p:nvSpPr>
          <p:cNvPr id="11" name="Text 5"/>
          <p:cNvSpPr/>
          <p:nvPr/>
        </p:nvSpPr>
        <p:spPr>
          <a:xfrm>
            <a:off x="9710928" y="3310128"/>
            <a:ext cx="398678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Part of WTO agreements.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832104" y="134416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20"/>
              </a:lnSpc>
              <a:buNone/>
            </a:pPr>
            <a:r>
              <a:rPr lang="en-US" sz="466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Overview</a:t>
            </a:r>
            <a:endParaRPr lang="en-US" sz="46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6711696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5138928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6" name="Text 1"/>
          <p:cNvSpPr/>
          <p:nvPr/>
        </p:nvSpPr>
        <p:spPr>
          <a:xfrm>
            <a:off x="841248" y="1481328"/>
            <a:ext cx="7397496" cy="1499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40"/>
              </a:lnSpc>
              <a:buNone/>
            </a:pPr>
            <a:r>
              <a:rPr lang="en-US" sz="939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08</a:t>
            </a:r>
            <a:endParaRPr lang="en-US" sz="9390" dirty="0"/>
          </a:p>
        </p:txBody>
      </p:sp>
      <p:sp>
        <p:nvSpPr>
          <p:cNvPr id="7" name="Text 2"/>
          <p:cNvSpPr/>
          <p:nvPr/>
        </p:nvSpPr>
        <p:spPr>
          <a:xfrm>
            <a:off x="9180576" y="1481328"/>
            <a:ext cx="46177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480" dirty="0"/>
          </a:p>
        </p:txBody>
      </p:sp>
      <p:sp>
        <p:nvSpPr>
          <p:cNvPr id="8" name="Text 3"/>
          <p:cNvSpPr/>
          <p:nvPr/>
        </p:nvSpPr>
        <p:spPr>
          <a:xfrm>
            <a:off x="832104" y="5705856"/>
            <a:ext cx="12984480" cy="749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70"/>
              </a:lnSpc>
              <a:buNone/>
            </a:pPr>
            <a:r>
              <a:rPr lang="en-US" sz="469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Conclusion</a:t>
            </a:r>
            <a:endParaRPr lang="en-US" sz="4690" dirty="0"/>
          </a:p>
        </p:txBody>
      </p:sp>
      <p:sp>
        <p:nvSpPr>
          <p:cNvPr id="9" name="Text 4"/>
          <p:cNvSpPr/>
          <p:nvPr/>
        </p:nvSpPr>
        <p:spPr>
          <a:xfrm>
            <a:off x="832104" y="4581144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41248" y="3209544"/>
            <a:ext cx="739749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2104" y="4023360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3639312"/>
            <a:ext cx="1152144" cy="11521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984" y="3639312"/>
            <a:ext cx="1435608" cy="115214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2256" y="3639312"/>
            <a:ext cx="1152144" cy="1152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60120" y="5020056"/>
            <a:ext cx="3831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International treaties ensure a uniform framework for IPR.</a:t>
            </a:r>
            <a:endParaRPr lang="en-US" sz="1850" dirty="0"/>
          </a:p>
        </p:txBody>
      </p:sp>
      <p:sp>
        <p:nvSpPr>
          <p:cNvPr id="7" name="Text 1"/>
          <p:cNvSpPr/>
          <p:nvPr/>
        </p:nvSpPr>
        <p:spPr>
          <a:xfrm>
            <a:off x="5404104" y="5020056"/>
            <a:ext cx="3831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Promote innovation, trade, and protection of creators' rights.</a:t>
            </a:r>
            <a:endParaRPr lang="en-US" sz="1850" dirty="0"/>
          </a:p>
        </p:txBody>
      </p:sp>
      <p:sp>
        <p:nvSpPr>
          <p:cNvPr id="8" name="Text 2"/>
          <p:cNvSpPr/>
          <p:nvPr/>
        </p:nvSpPr>
        <p:spPr>
          <a:xfrm>
            <a:off x="9848088" y="5020056"/>
            <a:ext cx="3831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20"/>
              </a:lnSpc>
              <a:buNone/>
            </a:pPr>
            <a:r>
              <a:rPr lang="en-US" sz="1850" dirty="0">
                <a:solidFill>
                  <a:srgbClr val="424242"/>
                </a:solidFill>
                <a:latin typeface="MiSans-MiSans-Regular" pitchFamily="34" charset="0"/>
                <a:ea typeface="MiSans-MiSans-Regular" pitchFamily="34" charset="-122"/>
                <a:cs typeface="MiSans-MiSans-Regular" pitchFamily="34" charset="-120"/>
              </a:rPr>
              <a:t>Encourage global collaboration in protecting IP.</a:t>
            </a:r>
            <a:endParaRPr lang="en-US" sz="1850" dirty="0"/>
          </a:p>
        </p:txBody>
      </p:sp>
      <p:sp>
        <p:nvSpPr>
          <p:cNvPr id="9" name="Text 3"/>
          <p:cNvSpPr/>
          <p:nvPr/>
        </p:nvSpPr>
        <p:spPr>
          <a:xfrm>
            <a:off x="832104" y="249631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20"/>
              </a:lnSpc>
              <a:buNone/>
            </a:pPr>
            <a:r>
              <a:rPr lang="en-US" sz="466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Summary</a:t>
            </a:r>
            <a:endParaRPr lang="en-US" sz="46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" y="4251960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30"/>
              </a:lnSpc>
              <a:buNone/>
            </a:pPr>
            <a:r>
              <a:rPr lang="en-US" sz="642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04 | 05 | 06</a:t>
            </a:r>
            <a:endParaRPr lang="en-US" sz="6420" dirty="0"/>
          </a:p>
        </p:txBody>
      </p:sp>
      <p:sp>
        <p:nvSpPr>
          <p:cNvPr id="4" name="Text 1"/>
          <p:cNvSpPr/>
          <p:nvPr/>
        </p:nvSpPr>
        <p:spPr>
          <a:xfrm>
            <a:off x="832104" y="2971800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30"/>
              </a:lnSpc>
              <a:buNone/>
            </a:pPr>
            <a:r>
              <a:rPr lang="en-US" sz="6420" dirty="0">
                <a:solidFill>
                  <a:srgbClr val="3F4460"/>
                </a:solidFill>
                <a:latin typeface="思源宋体-思源宋体-Heavy" pitchFamily="34" charset="0"/>
                <a:ea typeface="思源宋体-思源宋体-Heavy" pitchFamily="34" charset="-122"/>
                <a:cs typeface="思源宋体-思源宋体-Heavy" pitchFamily="34" charset="-120"/>
              </a:rPr>
              <a:t>Thank You</a:t>
            </a:r>
            <a:endParaRPr lang="en-US" sz="64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2025-04-15T05:43:39Z</dcterms:created>
  <dcterms:modified xsi:type="dcterms:W3CDTF">2025-04-15T05:43:39Z</dcterms:modified>
</cp:coreProperties>
</file>